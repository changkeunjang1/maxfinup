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23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0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58280"/>
            <a:ext cx="10566400" cy="408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58280"/>
            <a:ext cx="10566400" cy="408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개선 버전 결과 영상의 교차로 장면: 차량마다 탐지 박스와 추적 번호, 노란 기준선"/>
          <p:cNvPicPr>
            <a:picLocks noChangeAspect="1"/>
          </p:cNvPicPr>
          <p:nvPr/>
        </p:nvPicPr>
        <p:blipFill>
          <a:blip r:embed="rId3"/>
          <a:srcRect l="22917" r="22917"/>
          <a:stretch/>
        </p:blipFill>
        <p:spPr>
          <a:xfrm>
            <a:off x="5588000" y="0"/>
            <a:ext cx="660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88000" y="0"/>
            <a:ext cx="6604000" cy="6858000"/>
          </a:xfrm>
          <a:prstGeom prst="rect">
            <a:avLst/>
          </a:prstGeom>
          <a:gradFill rotWithShape="1">
            <a:gsLst>
              <a:gs pos="0">
                <a:srgbClr val="15191F"/>
              </a:gs>
              <a:gs pos="30000">
                <a:srgbClr val="15191F">
                  <a:alpha val="55000"/>
                </a:srgbClr>
              </a:gs>
              <a:gs pos="100000">
                <a:srgbClr val="15191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5" name="Text 2"/>
          <p:cNvSpPr/>
          <p:nvPr/>
        </p:nvSpPr>
        <p:spPr>
          <a:xfrm>
            <a:off x="812800" y="1759049"/>
            <a:ext cx="53632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100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로드비전</a:t>
            </a:r>
            <a:endParaRPr lang="en-US" sz="1600" dirty="0"/>
          </a:p>
        </p:txBody>
      </p:sp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812800" y="2246709"/>
            <a:ext cx="536321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12800" y="3288109"/>
            <a:ext cx="5363210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200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기반 도로 위</a:t>
            </a:r>
            <a:endParaRPr lang="en-US" sz="2200" dirty="0"/>
          </a:p>
          <a:p>
            <a:pPr marL="0" indent="0" algn="l">
              <a:lnSpc>
                <a:spcPts val="2970"/>
              </a:lnSpc>
              <a:buNone/>
            </a:pPr>
            <a:r>
              <a:rPr lang="en-US" sz="2200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차량·보행자 실시간 인식 시스템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9150" y="4251920"/>
            <a:ext cx="1266031" cy="3530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516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탐지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99481" y="4251920"/>
            <a:ext cx="1393230" cy="3530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516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 추적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07011" y="4251920"/>
            <a:ext cx="1274266" cy="353020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 카운팅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4814491"/>
            <a:ext cx="53632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ko-KR" altLang="en-US" sz="160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장창근 </a:t>
            </a:r>
            <a:r>
              <a:rPr lang="en-US" altLang="ko-KR" sz="160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2026.10.13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순서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15975" y="2601615"/>
            <a:ext cx="2482850" cy="2597051"/>
          </a:xfrm>
          <a:prstGeom prst="roundRect">
            <a:avLst>
              <a:gd name="adj" fmla="val 3964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" y="2807990"/>
            <a:ext cx="213220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022350" y="3671590"/>
            <a:ext cx="213220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문제와 목표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2350" y="4108450"/>
            <a:ext cx="213220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시작했고 무엇을 만들었는지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2350" y="477897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3–4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08375" y="2601615"/>
            <a:ext cx="2482850" cy="2597051"/>
          </a:xfrm>
          <a:prstGeom prst="roundRect">
            <a:avLst>
              <a:gd name="adj" fmla="val 3964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4750" y="2807990"/>
            <a:ext cx="213220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3714750" y="3671590"/>
            <a:ext cx="213220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시스템과 방법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14750" y="4108450"/>
            <a:ext cx="213220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탐지, 추적, 기준선 카운팅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14750" y="477897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5–10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00775" y="2601615"/>
            <a:ext cx="2482850" cy="2597051"/>
          </a:xfrm>
          <a:prstGeom prst="roundRect">
            <a:avLst>
              <a:gd name="adj" fmla="val 3964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7150" y="2807990"/>
            <a:ext cx="213220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6407150" y="3671590"/>
            <a:ext cx="213220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3가지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7150" y="4108450"/>
            <a:ext cx="213220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버전의 문제와 해결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7150" y="477897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11–14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93175" y="2601615"/>
            <a:ext cx="2482850" cy="2597051"/>
          </a:xfrm>
          <a:prstGeom prst="roundRect">
            <a:avLst>
              <a:gd name="adj" fmla="val 3964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9550" y="2807990"/>
            <a:ext cx="213220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9099550" y="3671590"/>
            <a:ext cx="213220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결과와 시연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099550" y="4108450"/>
            <a:ext cx="213220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비교, 시연, 남은 과제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99550" y="477897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15–20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33" name="Text 31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배경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교통량 조사는 아직 사람이 셉니다</a:t>
            </a:r>
            <a:endParaRPr lang="en-US" sz="3600" dirty="0"/>
          </a:p>
        </p:txBody>
      </p:sp>
      <p:pic>
        <p:nvPicPr>
          <p:cNvPr id="12" name="Image 0" descr="테스트에 쓴 교차로 CCTV 영상의 원본 장면: 차량 수십 대와 보행자가 함께 지나가는 모습"/>
          <p:cNvPicPr>
            <a:picLocks noChangeAspect="1"/>
          </p:cNvPicPr>
          <p:nvPr/>
        </p:nvPicPr>
        <p:blipFill>
          <a:blip r:embed="rId3"/>
          <a:srcRect l="14" r="14"/>
          <a:stretch/>
        </p:blipFill>
        <p:spPr>
          <a:xfrm>
            <a:off x="812800" y="1958280"/>
            <a:ext cx="4965700" cy="2794000"/>
          </a:xfrm>
          <a:prstGeom prst="roundRect">
            <a:avLst>
              <a:gd name="adj" fmla="val 3636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6153150" y="2095500"/>
            <a:ext cx="0" cy="670520"/>
          </a:xfrm>
          <a:prstGeom prst="line">
            <a:avLst/>
          </a:prstGeom>
          <a:noFill/>
          <a:ln w="38100">
            <a:solidFill>
              <a:srgbClr val="F2C2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5400" y="2095500"/>
            <a:ext cx="515391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조사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375400" y="2481560"/>
            <a:ext cx="515391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현장에 서서 직접 셉니다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53150" y="3020020"/>
            <a:ext cx="0" cy="670520"/>
          </a:xfrm>
          <a:prstGeom prst="line">
            <a:avLst/>
          </a:prstGeom>
          <a:noFill/>
          <a:ln w="38100">
            <a:solidFill>
              <a:srgbClr val="F2C2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5400" y="3020020"/>
            <a:ext cx="515391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재확인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375400" y="3406080"/>
            <a:ext cx="515391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녹화 영상을 다시 돌려 보며 셉니다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53150" y="3944541"/>
            <a:ext cx="0" cy="670520"/>
          </a:xfrm>
          <a:prstGeom prst="line">
            <a:avLst/>
          </a:prstGeom>
          <a:noFill/>
          <a:ln w="38100">
            <a:solidFill>
              <a:srgbClr val="B341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75400" y="3944541"/>
            <a:ext cx="515391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사람의 한계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375400" y="4330601"/>
            <a:ext cx="515391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오래 셀수록 놓치거나 두 번 셉니다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12800" y="5057080"/>
            <a:ext cx="10566400" cy="640060"/>
          </a:xfrm>
          <a:prstGeom prst="roundRect">
            <a:avLst>
              <a:gd name="adj" fmla="val 15874"/>
            </a:avLst>
          </a:prstGeom>
          <a:solidFill>
            <a:srgbClr val="15191F"/>
          </a:solidFill>
          <a:ln/>
        </p:spPr>
      </p:sp>
      <p:sp>
        <p:nvSpPr>
          <p:cNvPr id="23" name="Shape 20"/>
          <p:cNvSpPr/>
          <p:nvPr/>
        </p:nvSpPr>
        <p:spPr>
          <a:xfrm>
            <a:off x="1066800" y="5351661"/>
            <a:ext cx="254000" cy="508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4" name="Text 21"/>
          <p:cNvSpPr/>
          <p:nvPr/>
        </p:nvSpPr>
        <p:spPr>
          <a:xfrm>
            <a:off x="1473200" y="5234880"/>
            <a:ext cx="601479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있는 CCTV 영상에서 컴퓨터가 자동으로 세게 하자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6" name="Text 23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개요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도로 영상을 넣으면 숫자가 나옵니다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12800" y="1958280"/>
            <a:ext cx="37934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· 원본 CCTV 영상</a:t>
            </a:r>
            <a:endParaRPr lang="en-US" sz="1200" dirty="0"/>
          </a:p>
        </p:txBody>
      </p:sp>
      <p:pic>
        <p:nvPicPr>
          <p:cNvPr id="13" name="Image 0" descr="입력: 박스가 없는 교차로 원본 영상 장면"/>
          <p:cNvPicPr>
            <a:picLocks noChangeAspect="1"/>
          </p:cNvPicPr>
          <p:nvPr/>
        </p:nvPicPr>
        <p:blipFill>
          <a:blip r:embed="rId3"/>
          <a:srcRect t="38" b="38"/>
          <a:stretch/>
        </p:blipFill>
        <p:spPr>
          <a:xfrm>
            <a:off x="812800" y="2247801"/>
            <a:ext cx="3683000" cy="2070100"/>
          </a:xfrm>
          <a:prstGeom prst="roundRect">
            <a:avLst>
              <a:gd name="adj" fmla="val 4908"/>
            </a:avLst>
          </a:prstGeom>
        </p:spPr>
      </p:pic>
      <p:pic>
        <p:nvPicPr>
          <p:cNvPr id="14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99000" y="3099991"/>
            <a:ext cx="762000" cy="76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4200" y="1958280"/>
            <a:ext cx="37934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· TrafficLens 결과</a:t>
            </a:r>
            <a:endParaRPr lang="en-US" sz="1200" dirty="0"/>
          </a:p>
        </p:txBody>
      </p:sp>
      <p:pic>
        <p:nvPicPr>
          <p:cNvPr id="16" name="Image 2" descr="출력: 같은 장면에 차량별 박스와 추적 번호, 기준선, 왼쪽 위 집계표가 표시된 결과"/>
          <p:cNvPicPr>
            <a:picLocks noChangeAspect="1"/>
          </p:cNvPicPr>
          <p:nvPr/>
        </p:nvPicPr>
        <p:blipFill>
          <a:blip r:embed="rId5"/>
          <a:srcRect t="583" b="583"/>
          <a:stretch/>
        </p:blipFill>
        <p:spPr>
          <a:xfrm>
            <a:off x="5689600" y="2273201"/>
            <a:ext cx="3632200" cy="2019300"/>
          </a:xfrm>
          <a:prstGeom prst="roundRect">
            <a:avLst>
              <a:gd name="adj" fmla="val 3774"/>
            </a:avLst>
          </a:prstGeom>
        </p:spPr>
      </p:pic>
      <p:sp>
        <p:nvSpPr>
          <p:cNvPr id="17" name="Shape 12"/>
          <p:cNvSpPr/>
          <p:nvPr/>
        </p:nvSpPr>
        <p:spPr>
          <a:xfrm>
            <a:off x="5676900" y="2260501"/>
            <a:ext cx="3657600" cy="2044700"/>
          </a:xfrm>
          <a:prstGeom prst="roundRect">
            <a:avLst>
              <a:gd name="adj" fmla="val 4348"/>
            </a:avLst>
          </a:prstGeom>
          <a:noFill/>
          <a:ln w="25400">
            <a:solidFill>
              <a:srgbClr val="2558B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12800" y="4635401"/>
            <a:ext cx="3318867" cy="0"/>
          </a:xfrm>
          <a:prstGeom prst="line">
            <a:avLst/>
          </a:prstGeom>
          <a:noFill/>
          <a:ln w="25400">
            <a:solidFill>
              <a:srgbClr val="2558B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12800" y="4800501"/>
            <a:ext cx="341843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5종 탐지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12800" y="5186561"/>
            <a:ext cx="341843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승용차·오토바이·버스·트럭과 보행자를 구분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436467" y="4635401"/>
            <a:ext cx="3318966" cy="0"/>
          </a:xfrm>
          <a:prstGeom prst="line">
            <a:avLst/>
          </a:prstGeom>
          <a:noFill/>
          <a:ln w="25400">
            <a:solidFill>
              <a:srgbClr val="2558B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436467" y="4800501"/>
            <a:ext cx="341853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방향별 카운팅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4436467" y="5186561"/>
            <a:ext cx="34185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기준선을 지나간 수를 방향별로 셈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060234" y="4635401"/>
            <a:ext cx="3318966" cy="0"/>
          </a:xfrm>
          <a:prstGeom prst="line">
            <a:avLst/>
          </a:prstGeom>
          <a:noFill/>
          <a:ln w="25400">
            <a:solidFill>
              <a:srgbClr val="2558B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060234" y="4800501"/>
            <a:ext cx="341853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실시간 처리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8060234" y="5186561"/>
            <a:ext cx="34185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실시간에 가까운 속도, FPS 표시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8" name="Text 23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구조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다섯 단계로 처리합니다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15975" y="3216275"/>
            <a:ext cx="1779191" cy="1367631"/>
          </a:xfrm>
          <a:prstGeom prst="roundRect">
            <a:avLst>
              <a:gd name="adj" fmla="val 7197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550" y="3397250"/>
            <a:ext cx="15188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1550" y="3661370"/>
            <a:ext cx="1518841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입력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1550" y="3976291"/>
            <a:ext cx="151884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파일이나 웹캠의 프레임</a:t>
            </a:r>
            <a:endParaRPr lang="en-US" sz="1200" dirty="0"/>
          </a:p>
        </p:txBody>
      </p:sp>
      <p:pic>
        <p:nvPicPr>
          <p:cNvPr id="16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74541" y="3861991"/>
            <a:ext cx="254000" cy="76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007916" y="3216275"/>
            <a:ext cx="1779290" cy="1367631"/>
          </a:xfrm>
          <a:prstGeom prst="roundRect">
            <a:avLst>
              <a:gd name="adj" fmla="val 7197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63491" y="3397250"/>
            <a:ext cx="1518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163491" y="3661370"/>
            <a:ext cx="151894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163491" y="3976291"/>
            <a:ext cx="15189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프레임마다 차량과 보행자 탐지</a:t>
            </a:r>
            <a:endParaRPr lang="en-US" sz="1200" dirty="0"/>
          </a:p>
        </p:txBody>
      </p:sp>
      <p:pic>
        <p:nvPicPr>
          <p:cNvPr id="21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66580" y="3861991"/>
            <a:ext cx="254000" cy="762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199955" y="3216275"/>
            <a:ext cx="1779290" cy="1367631"/>
          </a:xfrm>
          <a:prstGeom prst="roundRect">
            <a:avLst>
              <a:gd name="adj" fmla="val 7197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55530" y="3397250"/>
            <a:ext cx="1518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355530" y="3661370"/>
            <a:ext cx="151894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355530" y="3976291"/>
            <a:ext cx="15189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물체에 같은 ID를 붙여 추적</a:t>
            </a:r>
            <a:endParaRPr lang="en-US" sz="1200" dirty="0"/>
          </a:p>
        </p:txBody>
      </p:sp>
      <p:pic>
        <p:nvPicPr>
          <p:cNvPr id="26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58620" y="3861991"/>
            <a:ext cx="254000" cy="762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7395170" y="3213100"/>
            <a:ext cx="1785640" cy="1373981"/>
          </a:xfrm>
          <a:prstGeom prst="roundRect">
            <a:avLst>
              <a:gd name="adj" fmla="val 6932"/>
            </a:avLst>
          </a:prstGeom>
          <a:solidFill>
            <a:srgbClr val="E6EEFB"/>
          </a:solidFill>
          <a:ln w="12700">
            <a:solidFill>
              <a:srgbClr val="2558B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553920" y="3397250"/>
            <a:ext cx="1518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· 직접 개발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7553920" y="3661370"/>
            <a:ext cx="151894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필터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7553920" y="3976291"/>
            <a:ext cx="15189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탐지 3가지를 걸러냄</a:t>
            </a:r>
            <a:endParaRPr lang="en-US" sz="1200" dirty="0"/>
          </a:p>
        </p:txBody>
      </p:sp>
      <p:pic>
        <p:nvPicPr>
          <p:cNvPr id="31" name="Image 3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63360" y="3861991"/>
            <a:ext cx="254000" cy="762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596735" y="3216275"/>
            <a:ext cx="1779290" cy="1367631"/>
          </a:xfrm>
          <a:prstGeom prst="roundRect">
            <a:avLst>
              <a:gd name="adj" fmla="val 7197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752310" y="3397250"/>
            <a:ext cx="1518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9752310" y="3661370"/>
            <a:ext cx="151894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카운팅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752310" y="3976291"/>
            <a:ext cx="15189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 통과를 세고 화면에 표시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37" name="Text 31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6B7079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E343D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E343D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왼쪽 위에 숫자를 보여줍니다</a:t>
            </a:r>
            <a:endParaRPr lang="en-US" sz="3600" dirty="0"/>
          </a:p>
        </p:txBody>
      </p:sp>
      <p:pic>
        <p:nvPicPr>
          <p:cNvPr id="12" name="Image 0" descr="결과 영상 왼쪽 위의 집계표: 차량과 보행자의 now, line, total 숫자와 FPS"/>
          <p:cNvPicPr>
            <a:picLocks noChangeAspect="1"/>
          </p:cNvPicPr>
          <p:nvPr/>
        </p:nvPicPr>
        <p:blipFill>
          <a:blip r:embed="rId3"/>
          <a:srcRect r="54545" b="54619"/>
          <a:stretch/>
        </p:blipFill>
        <p:spPr>
          <a:xfrm>
            <a:off x="819150" y="1964630"/>
            <a:ext cx="6083300" cy="3416300"/>
          </a:xfrm>
          <a:prstGeom prst="roundRect">
            <a:avLst>
              <a:gd name="adj" fmla="val 2788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815975" y="1961455"/>
            <a:ext cx="6089650" cy="3422650"/>
          </a:xfrm>
          <a:prstGeom prst="roundRect">
            <a:avLst>
              <a:gd name="adj" fmla="val 2876"/>
            </a:avLst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1958280"/>
            <a:ext cx="418592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15200" y="2344341"/>
            <a:ext cx="4185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화면에 보이는 개수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0" y="2776141"/>
            <a:ext cx="418592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315200" y="3162201"/>
            <a:ext cx="4185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기준선을 지나간 수. 실제 교통량 조사에 해당하는 값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0" y="3594001"/>
            <a:ext cx="418592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315200" y="3980061"/>
            <a:ext cx="4185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영상에 한 번이라도 나타난 고유 ID 수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0" y="4411861"/>
            <a:ext cx="418592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315200" y="4797921"/>
            <a:ext cx="4185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초당 처리한 프레임 수와 실행 모드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3" name="Text 20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환경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사용한 기술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15975" y="1961455"/>
            <a:ext cx="3380284" cy="1372791"/>
          </a:xfrm>
          <a:prstGeom prst="roundRect">
            <a:avLst>
              <a:gd name="adj" fmla="val 7170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3150" y="2218630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3150" y="2508151"/>
            <a:ext cx="295191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3150" y="2848471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탐지부터 카운팅까지 전체 코드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05809" y="1961455"/>
            <a:ext cx="3380284" cy="1372791"/>
          </a:xfrm>
          <a:prstGeom prst="roundRect">
            <a:avLst>
              <a:gd name="adj" fmla="val 7170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2984" y="2218630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 모델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2984" y="2508151"/>
            <a:ext cx="295191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YOLOv8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2984" y="2848471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학습된 n·s·m 모델을 비교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95642" y="1961455"/>
            <a:ext cx="3380284" cy="1372791"/>
          </a:xfrm>
          <a:prstGeom prst="roundRect">
            <a:avLst>
              <a:gd name="adj" fmla="val 7170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2817" y="2218630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52817" y="2508151"/>
            <a:ext cx="295191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52817" y="2848471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Ultralytics에 내장된 추적기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975" y="3543796"/>
            <a:ext cx="3380284" cy="1372791"/>
          </a:xfrm>
          <a:prstGeom prst="roundRect">
            <a:avLst>
              <a:gd name="adj" fmla="val 7170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3150" y="3800971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처리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3150" y="4090491"/>
            <a:ext cx="295191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73150" y="4430812"/>
            <a:ext cx="31199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읽기, 박스·기준선 그리기, 결과 저장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05809" y="3543796"/>
            <a:ext cx="3380284" cy="1372791"/>
          </a:xfrm>
          <a:prstGeom prst="roundRect">
            <a:avLst>
              <a:gd name="adj" fmla="val 7170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2984" y="3800971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2984" y="4090491"/>
            <a:ext cx="295191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+ CUDA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2984" y="4430812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GPU가 있으면 GPU로 자동 실행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95642" y="3543796"/>
            <a:ext cx="3380284" cy="1372791"/>
          </a:xfrm>
          <a:prstGeom prst="roundRect">
            <a:avLst>
              <a:gd name="adj" fmla="val 7170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2817" y="3800971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환경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52817" y="4090491"/>
            <a:ext cx="295191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52817" y="4430812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노트북에서 실행하고 비교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37" name="Text 35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 모델 선택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YOLOv8s를 1280 해상도로 씁니다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973950"/>
              </p:ext>
            </p:extLst>
          </p:nvPr>
        </p:nvGraphicFramePr>
        <p:xfrm>
          <a:off x="825500" y="1970980"/>
          <a:ext cx="6083300" cy="2196207"/>
        </p:xfrm>
        <a:graphic>
          <a:graphicData uri="http://schemas.openxmlformats.org/drawingml/2006/table">
            <a:tbl>
              <a:tblPr/>
              <a:tblGrid>
                <a:gridCol w="2068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해상도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mAP50-95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YOLOv8s (선택)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315200" y="1958280"/>
            <a:ext cx="418592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정확도와 속도의 균형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0" y="2273201"/>
            <a:ext cx="41859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클수록 정확하지만 느려집니다. n·s·m 중 균형이 가장 좋은 s를 골랐습니다.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2984401"/>
            <a:ext cx="418592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해상도 640 → 1280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0" y="3299321"/>
            <a:ext cx="41859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멀리 있는 작은 보행자를 잡으려고 높였습니다</a:t>
            </a:r>
            <a:r>
              <a:rPr lang="en-US" altLang="ko-KR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COCO </a:t>
            </a:r>
            <a:r>
              <a:rPr lang="ko-KR" altLang="en-US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점수는 </a:t>
            </a:r>
            <a:r>
              <a:rPr lang="en-US" altLang="ko-KR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</a:t>
            </a:r>
            <a:r>
              <a:rPr lang="ko-KR" altLang="en-US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높지만</a:t>
            </a:r>
            <a:r>
              <a:rPr lang="en-US" altLang="ko-KR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영상의 사람 탐지는 </a:t>
            </a:r>
            <a:r>
              <a:rPr lang="en-US" altLang="ko-KR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→ 190</a:t>
            </a:r>
            <a:r>
              <a:rPr lang="ko-KR" altLang="en-US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개로 늘었습니다</a:t>
            </a:r>
            <a:r>
              <a:rPr lang="en-US" altLang="ko-KR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0" y="4188321"/>
            <a:ext cx="418592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 사전 학습 가중치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0" y="4503241"/>
            <a:ext cx="41859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 4종과 사람이 모두 COCO 클래스라 추가 학습 없이 사용했습니다.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0" name="Text 17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물체마다 번호를 붙여 따라갑니다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12800" y="2223691"/>
            <a:ext cx="19621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탐지만 할 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73375" y="1961455"/>
            <a:ext cx="1263650" cy="808930"/>
          </a:xfrm>
          <a:prstGeom prst="roundRect">
            <a:avLst>
              <a:gd name="adj" fmla="val 9027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571" y="2091630"/>
            <a:ext cx="7011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01851" y="2355751"/>
            <a:ext cx="4065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5775" y="1961455"/>
            <a:ext cx="1263650" cy="808930"/>
          </a:xfrm>
          <a:prstGeom prst="roundRect">
            <a:avLst>
              <a:gd name="adj" fmla="val 9027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6971" y="2091630"/>
            <a:ext cx="7011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4251" y="2355751"/>
            <a:ext cx="4065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8175" y="1961455"/>
            <a:ext cx="1263650" cy="808930"/>
          </a:xfrm>
          <a:prstGeom prst="roundRect">
            <a:avLst>
              <a:gd name="adj" fmla="val 9027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99371" y="2091630"/>
            <a:ext cx="7011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6651" y="2355751"/>
            <a:ext cx="4065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600" dirty="0"/>
          </a:p>
        </p:txBody>
      </p:sp>
      <p:pic>
        <p:nvPicPr>
          <p:cNvPr id="22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7400" y="2327771"/>
            <a:ext cx="355600" cy="76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645400" y="2170311"/>
            <a:ext cx="227254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3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3대로 셈 (중복)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12800" y="3299321"/>
            <a:ext cx="19621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추적할 때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876550" y="3033911"/>
            <a:ext cx="1257300" cy="815280"/>
          </a:xfrm>
          <a:prstGeom prst="roundRect">
            <a:avLst>
              <a:gd name="adj" fmla="val 8568"/>
            </a:avLst>
          </a:prstGeom>
          <a:solidFill>
            <a:srgbClr val="E6EEFB"/>
          </a:solidFill>
          <a:ln w="12700">
            <a:solidFill>
              <a:srgbClr val="2558B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54571" y="3167261"/>
            <a:ext cx="7011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064560" y="3431381"/>
            <a:ext cx="88118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#26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298950" y="3033911"/>
            <a:ext cx="1257300" cy="815280"/>
          </a:xfrm>
          <a:prstGeom prst="roundRect">
            <a:avLst>
              <a:gd name="adj" fmla="val 8568"/>
            </a:avLst>
          </a:prstGeom>
          <a:solidFill>
            <a:srgbClr val="E6EEFB"/>
          </a:solidFill>
          <a:ln w="12700">
            <a:solidFill>
              <a:srgbClr val="2558B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6971" y="3167261"/>
            <a:ext cx="7011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486960" y="3431381"/>
            <a:ext cx="88118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#26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721350" y="3033911"/>
            <a:ext cx="1257300" cy="815280"/>
          </a:xfrm>
          <a:prstGeom prst="roundRect">
            <a:avLst>
              <a:gd name="adj" fmla="val 8568"/>
            </a:avLst>
          </a:prstGeom>
          <a:solidFill>
            <a:srgbClr val="E6EEFB"/>
          </a:solidFill>
          <a:ln w="12700">
            <a:solidFill>
              <a:srgbClr val="2558B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99371" y="3167261"/>
            <a:ext cx="7011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3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909360" y="3431381"/>
            <a:ext cx="88118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#26</a:t>
            </a:r>
            <a:endParaRPr lang="en-US" sz="1600" dirty="0"/>
          </a:p>
        </p:txBody>
      </p:sp>
      <p:pic>
        <p:nvPicPr>
          <p:cNvPr id="34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7400" y="3403402"/>
            <a:ext cx="355600" cy="762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645400" y="3245941"/>
            <a:ext cx="128551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1대로 셈</a:t>
            </a:r>
            <a:endParaRPr lang="en-US" sz="2200" dirty="0"/>
          </a:p>
        </p:txBody>
      </p:sp>
      <p:sp>
        <p:nvSpPr>
          <p:cNvPr id="36" name="Text 32"/>
          <p:cNvSpPr/>
          <p:nvPr/>
        </p:nvSpPr>
        <p:spPr>
          <a:xfrm>
            <a:off x="812800" y="5151140"/>
            <a:ext cx="10566400" cy="690860"/>
          </a:xfrm>
          <a:prstGeom prst="roundRect">
            <a:avLst>
              <a:gd name="adj" fmla="val 14706"/>
            </a:avLst>
          </a:prstGeom>
          <a:solidFill>
            <a:srgbClr val="15191F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</a:t>
            </a:r>
            <a:r>
              <a:rPr lang="en-US" sz="1600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신뢰도가 낮은 박스도 버리지 않고 한 번 더 짝지어, 잠깐 가려진 물체도 같은 번호로 이어 갑니다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38" name="Text 34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 카운팅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기준선을 가로지르면 한 번 셉니다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12800" y="1958280"/>
            <a:ext cx="5080000" cy="3556000"/>
          </a:xfrm>
          <a:prstGeom prst="roundRect">
            <a:avLst>
              <a:gd name="adj" fmla="val 2857"/>
            </a:avLst>
          </a:prstGeom>
          <a:solidFill>
            <a:srgbClr val="15191F"/>
          </a:solidFill>
          <a:ln/>
        </p:spPr>
      </p:sp>
      <p:pic>
        <p:nvPicPr>
          <p:cNvPr id="13" name="Image 0" descr="기준선 통과 판정: 물체 중심점이 직전 프레임 위치에서 현재 프레임 위치로 이동하며 노란 기준선을 가로지름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58280"/>
            <a:ext cx="5080000" cy="3556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454400" y="23138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LINE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739900" y="42569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직전 프레임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25900" y="2974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프레임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05200" y="462528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선을 넘음 → 방향 + 1회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99200" y="2230140"/>
            <a:ext cx="52324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이동 경로로 판정합니다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99200" y="2545060"/>
            <a:ext cx="523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중심점이 직전 프레임에서 현재 프레임으로 움직인 선이 기준선을 가로지르는지 봅니다.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99200" y="3205460"/>
            <a:ext cx="52324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ID당 한 번, 방향별로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99200" y="3520380"/>
            <a:ext cx="523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넘어간 방향에 따라 +와 −로 나누고, 같은 ID는 다시 세지 않습니다.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99200" y="3952180"/>
            <a:ext cx="52324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선분 범위 안에서만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299200" y="4267101"/>
            <a:ext cx="523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기준선의 양 끝 바깥으로 지나간 물체는 세지 않습니다.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99200" y="4698901"/>
            <a:ext cx="52324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기준을 나눴습니다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99200" y="5013821"/>
            <a:ext cx="523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작게 찍히는 보행자는 0.25, 차량은 0.4 이상만 인정합니다.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7" name="Text 24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6B7079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6B7079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E343D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버전의 한계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버전에서 세 가지 문제가 보였습니다</a:t>
            </a:r>
            <a:endParaRPr lang="en-US" sz="3600" dirty="0"/>
          </a:p>
        </p:txBody>
      </p:sp>
      <p:pic>
        <p:nvPicPr>
          <p:cNvPr id="12" name="Image 0" descr="기본 버전 결과 화면: 교차로의 신호등 세 곳이 Person으로 탐지된 장면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58280"/>
            <a:ext cx="6096000" cy="3429000"/>
          </a:xfrm>
          <a:prstGeom prst="roundRect">
            <a:avLst>
              <a:gd name="adj" fmla="val 2963"/>
            </a:avLst>
          </a:prstGeom>
        </p:spPr>
      </p:pic>
      <p:sp>
        <p:nvSpPr>
          <p:cNvPr id="13" name="Text 10"/>
          <p:cNvSpPr/>
          <p:nvPr/>
        </p:nvSpPr>
        <p:spPr>
          <a:xfrm>
            <a:off x="812800" y="5488880"/>
            <a:ext cx="6278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버전 화면: 신호등 세 곳이 Person으로 잡혔습니다 (주황 박스)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1958280"/>
            <a:ext cx="418592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sz="1600" b="1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신호등을 보행자로 오인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0" y="2273201"/>
            <a:ext cx="41859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계속 서 있는 신호등이 Person으로 잡혀 보행자 수가 늘었습니다.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0" y="2984401"/>
            <a:ext cx="418592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1600" b="1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트럭과 버스를 혼동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15200" y="3299321"/>
            <a:ext cx="41859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차에 트럭·버스 박스가 겹치거나 클래스가 바뀌어 양쪽에 모두 세어졌습니다.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0" y="4010521"/>
            <a:ext cx="418592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sz="1600" b="1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순간 오탐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0" y="4325441"/>
            <a:ext cx="41859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프레임만 나타났다 사라지는 탐지가 누적 수를 부풀렸습니다.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1" name="Text 18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1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정지 물체 필터로 신호등을 걸러냅니다</a:t>
            </a:r>
            <a:endParaRPr lang="en-US" sz="3600" dirty="0"/>
          </a:p>
        </p:txBody>
      </p:sp>
      <p:pic>
        <p:nvPicPr>
          <p:cNvPr id="12" name="Image 0" descr="기본 버전 화면 확대: 신호등이 Person으로 탐지된 모습"/>
          <p:cNvPicPr>
            <a:picLocks noChangeAspect="1"/>
          </p:cNvPicPr>
          <p:nvPr/>
        </p:nvPicPr>
        <p:blipFill>
          <a:blip r:embed="rId3"/>
          <a:srcRect l="53333" t="38000" r="13333" b="28667"/>
          <a:stretch/>
        </p:blipFill>
        <p:spPr>
          <a:xfrm>
            <a:off x="812800" y="1958280"/>
            <a:ext cx="5080000" cy="2857500"/>
          </a:xfrm>
          <a:prstGeom prst="roundRect">
            <a:avLst>
              <a:gd name="adj" fmla="val 3556"/>
            </a:avLst>
          </a:prstGeom>
        </p:spPr>
      </p:pic>
      <p:sp>
        <p:nvSpPr>
          <p:cNvPr id="13" name="Text 10"/>
          <p:cNvSpPr/>
          <p:nvPr/>
        </p:nvSpPr>
        <p:spPr>
          <a:xfrm>
            <a:off x="812800" y="49173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버전: 신호등이 Person으로 탐지된 모습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99200" y="1958280"/>
            <a:ext cx="5080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08800" y="1958280"/>
            <a:ext cx="460451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화면을 칸으로 나눕니다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08800" y="2247801"/>
            <a:ext cx="46045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1080p 기준 32px 크기의 칸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99200" y="2679601"/>
            <a:ext cx="5080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908800" y="2679601"/>
            <a:ext cx="460451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칸마다 보행자 등장을 셉니다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08800" y="2969121"/>
            <a:ext cx="46045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보행자가 나온 프레임 수를 칸별로 쌓습니다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99200" y="3400921"/>
            <a:ext cx="5080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908800" y="3400921"/>
            <a:ext cx="460451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나온 자리는 뺍니다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908800" y="3690441"/>
            <a:ext cx="460451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주변 3×3 칸에서 전체 프레임의 15% 이상이면 정지 물체로 보고 회색 박스로 표시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99200" y="4350841"/>
            <a:ext cx="523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시작 후 20초가 지나야 판단할 자료가 쌓입니다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5" name="Text 22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2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트럭·버스 혼동을 두 단계로 막습니다</a:t>
            </a:r>
            <a:endParaRPr lang="en-US" sz="3600" dirty="0"/>
          </a:p>
        </p:txBody>
      </p:sp>
      <p:pic>
        <p:nvPicPr>
          <p:cNvPr id="12" name="Image 0" descr="개선 전: 서 있는 화물 트럭에 Bus 박스가 겹쳐 새 번호 #2663이 붙은 모습"/>
          <p:cNvPicPr>
            <a:picLocks noChangeAspect="1"/>
          </p:cNvPicPr>
          <p:nvPr/>
        </p:nvPicPr>
        <p:blipFill>
          <a:blip r:embed="rId3"/>
          <a:srcRect t="613" b="613"/>
          <a:stretch/>
        </p:blipFill>
        <p:spPr>
          <a:xfrm>
            <a:off x="838200" y="1932880"/>
            <a:ext cx="4140200" cy="2044700"/>
          </a:xfrm>
          <a:prstGeom prst="roundRect">
            <a:avLst>
              <a:gd name="adj" fmla="val 3727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825500" y="1920180"/>
            <a:ext cx="4165600" cy="2070100"/>
          </a:xfrm>
          <a:prstGeom prst="roundRect">
            <a:avLst>
              <a:gd name="adj" fmla="val 4294"/>
            </a:avLst>
          </a:prstGeom>
          <a:noFill/>
          <a:ln w="25400">
            <a:solidFill>
              <a:srgbClr val="B341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2800" y="4079180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</a:t>
            </a: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서 있는 트럭에 Bus 박스가 겹쳐 새 ID #2663</a:t>
            </a:r>
            <a:endParaRPr lang="en-US" sz="1200" dirty="0"/>
          </a:p>
        </p:txBody>
      </p:sp>
      <p:pic>
        <p:nvPicPr>
          <p:cNvPr id="15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07000" y="3061891"/>
            <a:ext cx="355600" cy="76200"/>
          </a:xfrm>
          <a:prstGeom prst="rect">
            <a:avLst/>
          </a:prstGeom>
        </p:spPr>
      </p:pic>
      <p:pic>
        <p:nvPicPr>
          <p:cNvPr id="16" name="Image 2" descr="개선 후: 같은 트럭에 Truck #39 박스 하나만 남은 모습"/>
          <p:cNvPicPr>
            <a:picLocks noChangeAspect="1"/>
          </p:cNvPicPr>
          <p:nvPr/>
        </p:nvPicPr>
        <p:blipFill>
          <a:blip r:embed="rId5"/>
          <a:srcRect t="613" b="613"/>
          <a:stretch/>
        </p:blipFill>
        <p:spPr>
          <a:xfrm>
            <a:off x="5791200" y="1932880"/>
            <a:ext cx="4140200" cy="2044700"/>
          </a:xfrm>
          <a:prstGeom prst="roundRect">
            <a:avLst>
              <a:gd name="adj" fmla="val 3727"/>
            </a:avLst>
          </a:prstGeom>
        </p:spPr>
      </p:pic>
      <p:sp>
        <p:nvSpPr>
          <p:cNvPr id="17" name="Shape 12"/>
          <p:cNvSpPr/>
          <p:nvPr/>
        </p:nvSpPr>
        <p:spPr>
          <a:xfrm>
            <a:off x="5778500" y="1920180"/>
            <a:ext cx="4165600" cy="2070100"/>
          </a:xfrm>
          <a:prstGeom prst="roundRect">
            <a:avLst>
              <a:gd name="adj" fmla="val 4294"/>
            </a:avLst>
          </a:prstGeom>
          <a:noFill/>
          <a:ln w="25400">
            <a:solidFill>
              <a:srgbClr val="2558B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765800" y="4079180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</a:t>
            </a: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Truck #39 하나만 남음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5975" y="4549676"/>
            <a:ext cx="3376017" cy="1192411"/>
          </a:xfrm>
          <a:prstGeom prst="roundRect">
            <a:avLst>
              <a:gd name="adj" fmla="val 8254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22350" y="4756051"/>
            <a:ext cx="3052165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중복 박스 제거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22350" y="5070971"/>
            <a:ext cx="305216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 0.8 이상 겹친 다른 클래스 박스는 하나만 남김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401542" y="4549676"/>
            <a:ext cx="3376116" cy="1192411"/>
          </a:xfrm>
          <a:prstGeom prst="roundRect">
            <a:avLst>
              <a:gd name="adj" fmla="val 8254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607917" y="4756051"/>
            <a:ext cx="3052267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클래스 다수결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607917" y="5070971"/>
            <a:ext cx="30522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ID마다 가장 많이 나온 클래스 하나로 셈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990384" y="4552851"/>
            <a:ext cx="3382466" cy="1186061"/>
          </a:xfrm>
          <a:prstGeom prst="roundRect">
            <a:avLst>
              <a:gd name="adj" fmla="val 8031"/>
            </a:avLst>
          </a:prstGeom>
          <a:solidFill>
            <a:srgbClr val="E6EEFB"/>
          </a:solidFill>
          <a:ln w="12700">
            <a:solidFill>
              <a:srgbClr val="2558B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199934" y="4762401"/>
            <a:ext cx="3052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버스 누적 수 (테스트 영상 전체)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199934" y="5026521"/>
            <a:ext cx="30522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→ 29</a:t>
            </a:r>
            <a:endParaRPr lang="en-US" sz="3600" dirty="0"/>
          </a:p>
        </p:txBody>
      </p:sp>
      <p:sp>
        <p:nvSpPr>
          <p:cNvPr id="28" name="Shape 23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9" name="Text 24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DEDCD3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3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짧게 보인 ID는 누적 수에서 뺍니다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12800" y="195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예시: ID별로 화면에 보인 프레임 수 (한 칸 = 1프레임)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2628801"/>
            <a:ext cx="1422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#101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352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15" name="Shape 13"/>
          <p:cNvSpPr/>
          <p:nvPr/>
        </p:nvSpPr>
        <p:spPr>
          <a:xfrm>
            <a:off x="25400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16" name="Shape 14"/>
          <p:cNvSpPr/>
          <p:nvPr/>
        </p:nvSpPr>
        <p:spPr>
          <a:xfrm>
            <a:off x="28448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17" name="Shape 15"/>
          <p:cNvSpPr/>
          <p:nvPr/>
        </p:nvSpPr>
        <p:spPr>
          <a:xfrm>
            <a:off x="31496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18" name="Shape 16"/>
          <p:cNvSpPr/>
          <p:nvPr/>
        </p:nvSpPr>
        <p:spPr>
          <a:xfrm>
            <a:off x="34544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19" name="Shape 17"/>
          <p:cNvSpPr/>
          <p:nvPr/>
        </p:nvSpPr>
        <p:spPr>
          <a:xfrm>
            <a:off x="37592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40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21" name="Shape 19"/>
          <p:cNvSpPr/>
          <p:nvPr/>
        </p:nvSpPr>
        <p:spPr>
          <a:xfrm>
            <a:off x="43688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736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23" name="Shape 21"/>
          <p:cNvSpPr/>
          <p:nvPr/>
        </p:nvSpPr>
        <p:spPr>
          <a:xfrm>
            <a:off x="49784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24" name="Shape 22"/>
          <p:cNvSpPr/>
          <p:nvPr/>
        </p:nvSpPr>
        <p:spPr>
          <a:xfrm>
            <a:off x="52832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25" name="Shape 23"/>
          <p:cNvSpPr/>
          <p:nvPr/>
        </p:nvSpPr>
        <p:spPr>
          <a:xfrm>
            <a:off x="5588000" y="264398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2558B8"/>
          </a:solidFill>
          <a:ln/>
        </p:spPr>
      </p:sp>
      <p:sp>
        <p:nvSpPr>
          <p:cNvPr id="26" name="Text 24"/>
          <p:cNvSpPr/>
          <p:nvPr/>
        </p:nvSpPr>
        <p:spPr>
          <a:xfrm>
            <a:off x="5892800" y="2628801"/>
            <a:ext cx="188333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→ total에 포함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3116461"/>
            <a:ext cx="1422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#102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235200" y="313164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9AA1AC"/>
          </a:solidFill>
          <a:ln/>
        </p:spPr>
      </p:sp>
      <p:sp>
        <p:nvSpPr>
          <p:cNvPr id="29" name="Shape 27"/>
          <p:cNvSpPr/>
          <p:nvPr/>
        </p:nvSpPr>
        <p:spPr>
          <a:xfrm>
            <a:off x="2540000" y="313164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9AA1AC"/>
          </a:solidFill>
          <a:ln/>
        </p:spPr>
      </p:sp>
      <p:sp>
        <p:nvSpPr>
          <p:cNvPr id="30" name="Shape 28"/>
          <p:cNvSpPr/>
          <p:nvPr/>
        </p:nvSpPr>
        <p:spPr>
          <a:xfrm>
            <a:off x="2844800" y="3131641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9AA1AC"/>
          </a:solidFill>
          <a:ln/>
        </p:spPr>
      </p:sp>
      <p:sp>
        <p:nvSpPr>
          <p:cNvPr id="31" name="Text 29"/>
          <p:cNvSpPr/>
          <p:nvPr/>
        </p:nvSpPr>
        <p:spPr>
          <a:xfrm>
            <a:off x="3149600" y="3116461"/>
            <a:ext cx="1801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3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3프레임, 제외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2800" y="3604121"/>
            <a:ext cx="1422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#103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235200" y="3619302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9AA1AC"/>
          </a:solidFill>
          <a:ln/>
        </p:spPr>
      </p:sp>
      <p:sp>
        <p:nvSpPr>
          <p:cNvPr id="34" name="Shape 32"/>
          <p:cNvSpPr/>
          <p:nvPr/>
        </p:nvSpPr>
        <p:spPr>
          <a:xfrm>
            <a:off x="2540000" y="3619302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9AA1AC"/>
          </a:solidFill>
          <a:ln/>
        </p:spPr>
      </p:sp>
      <p:sp>
        <p:nvSpPr>
          <p:cNvPr id="35" name="Text 33"/>
          <p:cNvSpPr/>
          <p:nvPr/>
        </p:nvSpPr>
        <p:spPr>
          <a:xfrm>
            <a:off x="2844800" y="3604121"/>
            <a:ext cx="1801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3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2프레임, 제외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21100" y="2578001"/>
            <a:ext cx="25400" cy="1219200"/>
          </a:xfrm>
          <a:prstGeom prst="rect">
            <a:avLst/>
          </a:prstGeom>
          <a:solidFill>
            <a:srgbClr val="B3412A"/>
          </a:solidFill>
          <a:ln/>
        </p:spPr>
      </p:sp>
      <p:sp>
        <p:nvSpPr>
          <p:cNvPr id="37" name="Text 35"/>
          <p:cNvSpPr/>
          <p:nvPr/>
        </p:nvSpPr>
        <p:spPr>
          <a:xfrm>
            <a:off x="3822700" y="2273201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5프레임 기준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2800" y="5151140"/>
            <a:ext cx="10566400" cy="690860"/>
          </a:xfrm>
          <a:prstGeom prst="roundRect">
            <a:avLst>
              <a:gd name="adj" fmla="val 14706"/>
            </a:avLst>
          </a:prstGeom>
          <a:solidFill>
            <a:srgbClr val="15191F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5프레임 미만으로 보인 ID는 </a:t>
            </a:r>
            <a:r>
              <a:rPr lang="en-US" sz="1600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r>
              <a:rPr lang="en-US" sz="1600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 뺍니다. 기준선 통과 수(line)에는 영향을 주지 않습니다.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40" name="Text 38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방법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영상, 같은 구간으로 비교했습니다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15975" y="2075755"/>
            <a:ext cx="3177084" cy="1372791"/>
          </a:xfrm>
          <a:prstGeom prst="roundRect">
            <a:avLst>
              <a:gd name="adj" fmla="val 7170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3150" y="2332930"/>
            <a:ext cx="2742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3150" y="2622451"/>
            <a:ext cx="274261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구간 정하기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3150" y="2962771"/>
            <a:ext cx="29167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</a:t>
            </a:r>
            <a:r>
              <a:rPr lang="en-US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영상에서 </a:t>
            </a:r>
            <a:r>
              <a:rPr lang="en-US" altLang="ko-KR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ko-KR" altLang="en-US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r>
              <a:rPr lang="en-US" sz="12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구간을 고릅니다</a:t>
            </a:r>
            <a:endParaRPr lang="en-US" sz="1200" dirty="0"/>
          </a:p>
        </p:txBody>
      </p:sp>
      <p:pic>
        <p:nvPicPr>
          <p:cNvPr id="16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7834" y="2724051"/>
            <a:ext cx="304800" cy="76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507409" y="1961455"/>
            <a:ext cx="3177183" cy="1601391"/>
          </a:xfrm>
          <a:prstGeom prst="roundRect">
            <a:avLst>
              <a:gd name="adj" fmla="val 6146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64584" y="2218630"/>
            <a:ext cx="27427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64584" y="2508151"/>
            <a:ext cx="2742718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만들기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64584" y="2848471"/>
            <a:ext cx="274271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기준선을 지나간 차량과 보행자를 사람이 직접 셉니다</a:t>
            </a:r>
            <a:endParaRPr lang="en-US" sz="1200" dirty="0"/>
          </a:p>
        </p:txBody>
      </p:sp>
      <p:pic>
        <p:nvPicPr>
          <p:cNvPr id="21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89366" y="2724051"/>
            <a:ext cx="304800" cy="762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198941" y="1961455"/>
            <a:ext cx="3177084" cy="1601391"/>
          </a:xfrm>
          <a:prstGeom prst="roundRect">
            <a:avLst>
              <a:gd name="adj" fmla="val 6146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456116" y="2218630"/>
            <a:ext cx="2742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456116" y="2508151"/>
            <a:ext cx="274261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버전 실행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456116" y="2848471"/>
            <a:ext cx="274261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구간을 기본 버전과 개선 버전으로 돌립니다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12800" y="4681339"/>
            <a:ext cx="10566400" cy="1160661"/>
          </a:xfrm>
          <a:prstGeom prst="roundRect">
            <a:avLst>
              <a:gd name="adj" fmla="val 8754"/>
            </a:avLst>
          </a:prstGeom>
          <a:solidFill>
            <a:srgbClr val="15191F"/>
          </a:solidFill>
          <a:ln/>
        </p:spPr>
      </p:sp>
      <p:sp>
        <p:nvSpPr>
          <p:cNvPr id="27" name="Text 23"/>
          <p:cNvSpPr/>
          <p:nvPr/>
        </p:nvSpPr>
        <p:spPr>
          <a:xfrm>
            <a:off x="1117600" y="4935339"/>
            <a:ext cx="102555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오차율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117600" y="5224859"/>
            <a:ext cx="10255504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|프로그램이 센 수 − 정답| ÷ 정답 × 100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30" name="Text 26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6B7079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6B7079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6B7079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비교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센 정답과 비교했습니다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12800" y="321181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 통과 수 오차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3526730"/>
            <a:ext cx="366268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ko-KR" altLang="en-US" sz="3600" b="1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중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12800" y="4131171"/>
            <a:ext cx="36626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버전 → 개선 버전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</a:t>
            </a:r>
            <a:r>
              <a:rPr lang="en-US" sz="120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</a:t>
            </a:r>
            <a:r>
              <a:rPr lang="en-US" altLang="ko-KR" sz="120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ko-KR" altLang="en-US" sz="120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r>
              <a:rPr lang="en-US" sz="120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구간, 정답은 직접 셈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878803"/>
              </p:ext>
            </p:extLst>
          </p:nvPr>
        </p:nvGraphicFramePr>
        <p:xfrm>
          <a:off x="4787900" y="2588716"/>
          <a:ext cx="6591300" cy="2635448"/>
        </p:xfrm>
        <a:graphic>
          <a:graphicData uri="http://schemas.openxmlformats.org/drawingml/2006/table">
            <a:tbl>
              <a:tblPr/>
              <a:tblGrid>
                <a:gridCol w="2241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2C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차량 통과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ko-KR" altLang="en-US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중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9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보행자 통과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ko-KR" altLang="en-US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중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차량 오차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ko-KR" altLang="en-US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중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ko-KR" altLang="en-US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중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보행자 오차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ko-KR" altLang="en-US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중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ko-KR" altLang="en-US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중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ko-KR" altLang="en-US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평균 </a:t>
                      </a:r>
                      <a:r>
                        <a:rPr lang="en-US" altLang="ko-KR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 (</a:t>
                      </a:r>
                      <a:r>
                        <a:rPr lang="ko-KR" altLang="en-US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저장 포함</a:t>
                      </a:r>
                      <a:r>
                        <a:rPr lang="en-US" altLang="ko-KR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altLang="ko-KR" sz="1600">
                          <a:solidFill>
                            <a:srgbClr val="F4F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17" name="Text 14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6B7079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6B7079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6B7079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영상으로 직접 보겠습니다</a:t>
            </a:r>
            <a:endParaRPr lang="en-US" sz="3600" dirty="0"/>
          </a:p>
        </p:txBody>
      </p:sp>
      <p:pic>
        <p:nvPicPr>
          <p:cNvPr id="12" name="Image 0" descr="개선 버전 결과 영상의 한 장면: 차량마다 클래스와 추적 ID가 붙은 박스, 노란 기준선, 왼쪽 위 집계표"/>
          <p:cNvPicPr>
            <a:picLocks noChangeAspect="1"/>
          </p:cNvPicPr>
          <p:nvPr/>
        </p:nvPicPr>
        <p:blipFill>
          <a:blip r:embed="rId3"/>
          <a:srcRect l="41" r="41"/>
          <a:stretch/>
        </p:blipFill>
        <p:spPr>
          <a:xfrm>
            <a:off x="812800" y="1856680"/>
            <a:ext cx="6858000" cy="3860800"/>
          </a:xfrm>
          <a:prstGeom prst="roundRect">
            <a:avLst>
              <a:gd name="adj" fmla="val 2632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7994650" y="1856680"/>
            <a:ext cx="0" cy="772120"/>
          </a:xfrm>
          <a:prstGeom prst="line">
            <a:avLst/>
          </a:prstGeom>
          <a:noFill/>
          <a:ln w="38100">
            <a:solidFill>
              <a:srgbClr val="F2C2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66100" y="1856680"/>
            <a:ext cx="3309493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노란 선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66100" y="2171601"/>
            <a:ext cx="330949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기준선. 지나가면 초록으로 깜빡이고 숫자가 올라갑니다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94650" y="2832001"/>
            <a:ext cx="0" cy="543520"/>
          </a:xfrm>
          <a:prstGeom prst="line">
            <a:avLst/>
          </a:prstGeom>
          <a:noFill/>
          <a:ln w="38100">
            <a:solidFill>
              <a:srgbClr val="F4F3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66100" y="2832001"/>
            <a:ext cx="3309493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위 표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66100" y="3146921"/>
            <a:ext cx="33094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· line · total과 FPS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94650" y="3578721"/>
            <a:ext cx="0" cy="772120"/>
          </a:xfrm>
          <a:prstGeom prst="line">
            <a:avLst/>
          </a:prstGeom>
          <a:noFill/>
          <a:ln w="38100">
            <a:solidFill>
              <a:srgbClr val="5B9B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66100" y="3578721"/>
            <a:ext cx="3309493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#번호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66100" y="3893641"/>
            <a:ext cx="330949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 ID. 화면을 나갈 때까지 같은 번호를 유지합니다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94650" y="4554041"/>
            <a:ext cx="0" cy="543520"/>
          </a:xfrm>
          <a:prstGeom prst="line">
            <a:avLst/>
          </a:prstGeom>
          <a:noFill/>
          <a:ln w="38100">
            <a:solidFill>
              <a:srgbClr val="9AA1A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66100" y="4554041"/>
            <a:ext cx="3309493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회색 박스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166100" y="4868962"/>
            <a:ext cx="33094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정지 물체로 판단해 제외한 탐지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6" name="Text 23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한계와 향후 과제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과제도 분명합니다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66773"/>
              </p:ext>
            </p:extLst>
          </p:nvPr>
        </p:nvGraphicFramePr>
        <p:xfrm>
          <a:off x="825500" y="1970980"/>
          <a:ext cx="10553700" cy="1756966"/>
        </p:xfrm>
        <a:graphic>
          <a:graphicData uri="http://schemas.openxmlformats.org/drawingml/2006/table">
            <a:tbl>
              <a:tblPr/>
              <a:tblGrid>
                <a:gridCol w="5804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9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한계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558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향후 과제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테스트 </a:t>
                      </a:r>
                      <a:r>
                        <a:rPr lang="en-US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영상이 </a:t>
                      </a:r>
                      <a:r>
                        <a:rPr lang="en-US" altLang="ko-KR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ko-KR" altLang="en-US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곳</a:t>
                      </a:r>
                      <a:r>
                        <a:rPr lang="en-US" sz="160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뿐</a:t>
                      </a: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야간·우천 미검증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다양한 환경의 영상으로 검증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가려졌다 다시 나오면 ID가 바뀌어 total 증가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추적기 튜닝, 외형 기반 재식별(ReID)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정지 물체 필터는 고정 카메라 전제, 처음 20초는 판단 불가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국내 도로 영상으로 추가 학습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14" name="Text 11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이런 곳에 쓸 수 있습니다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15975" y="1961455"/>
            <a:ext cx="3380284" cy="1520130"/>
          </a:xfrm>
          <a:prstGeom prst="roundRect">
            <a:avLst>
              <a:gd name="adj" fmla="val 6475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3150" y="2218630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교통량 조사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3150" y="2655491"/>
            <a:ext cx="29519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세던 조사를 CCTV 영상으로 대신합니다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05809" y="1961455"/>
            <a:ext cx="3380383" cy="1520130"/>
          </a:xfrm>
          <a:prstGeom prst="roundRect">
            <a:avLst>
              <a:gd name="adj" fmla="val 6475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2984" y="2218630"/>
            <a:ext cx="295201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 시간 조정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2984" y="2655491"/>
            <a:ext cx="295201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보행자 수와 방향별 차량 수를 근거 자료로 씁니다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95741" y="1961455"/>
            <a:ext cx="3380284" cy="1520130"/>
          </a:xfrm>
          <a:prstGeom prst="roundRect">
            <a:avLst>
              <a:gd name="adj" fmla="val 6475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2916" y="2218630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CCTV 활용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52916" y="2655491"/>
            <a:ext cx="29519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장비 없이 이미 설치된 카메라 영상을 씁니다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" y="5351165"/>
            <a:ext cx="10566400" cy="0"/>
          </a:xfrm>
          <a:prstGeom prst="line">
            <a:avLst/>
          </a:prstGeom>
          <a:noFill/>
          <a:ln w="6350">
            <a:solidFill>
              <a:srgbClr val="DEDC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55575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사람을 식별하지 않고 개수만 셉니다. 영상 저장을 끄고 숫자만 남길 수도 있습니다.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4" name="Text 22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179340"/>
            <a:ext cx="762000" cy="508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3334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4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47474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받겠습니다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069060"/>
            <a:ext cx="1088339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탐지 · ByteTrack 추적 · 기준선 카운팅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3가지로 기준선 통과 </a:t>
            </a:r>
            <a:r>
              <a:rPr lang="en-US" sz="160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 </a:t>
            </a:r>
            <a:r>
              <a:rPr lang="ko-KR" altLang="en-US" sz="1600">
                <a:solidFill>
                  <a:srgbClr val="C3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오차 측정 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52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3" name="Text 1"/>
          <p:cNvSpPr/>
          <p:nvPr/>
        </p:nvSpPr>
        <p:spPr>
          <a:xfrm>
            <a:off x="47752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문제와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516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5" name="Text 3"/>
          <p:cNvSpPr/>
          <p:nvPr/>
        </p:nvSpPr>
        <p:spPr>
          <a:xfrm>
            <a:off x="64516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시스템과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9AA1AC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개선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04400" y="304800"/>
            <a:ext cx="157480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9" name="Text 7"/>
          <p:cNvSpPr/>
          <p:nvPr/>
        </p:nvSpPr>
        <p:spPr>
          <a:xfrm>
            <a:off x="9804400" y="393700"/>
            <a:ext cx="162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결과와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b="1" kern="0" spc="10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시간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ko-KR" altLang="en-US" sz="3600" b="1" i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진행 정리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15975" y="1961455"/>
            <a:ext cx="3380284" cy="1676400"/>
          </a:xfrm>
          <a:prstGeom prst="roundRect">
            <a:avLst>
              <a:gd name="adj" fmla="val 6475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3150" y="2218630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ko-KR" altLang="en-US" sz="2200" b="1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학습하지 않았나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3150" y="2655491"/>
            <a:ext cx="295191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안에 학습 데이터를 만들 수 없어</a:t>
            </a: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학습된 </a:t>
            </a: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</a:t>
            </a: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그대로 썼습니다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05809" y="1961455"/>
            <a:ext cx="3380383" cy="1676400"/>
          </a:xfrm>
          <a:prstGeom prst="roundRect">
            <a:avLst>
              <a:gd name="adj" fmla="val 6475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2984" y="2218630"/>
            <a:ext cx="295201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ko-KR" altLang="en-US" sz="2200" b="1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숫자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2984" y="2655491"/>
            <a:ext cx="2952014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 통과 </a:t>
            </a: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</a:t>
            </a: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대는 두 버전이 같고</a:t>
            </a: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 </a:t>
            </a: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 </a:t>
            </a: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753 → 485</a:t>
            </a: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</a:t>
            </a: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 </a:t>
            </a: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줄었습니다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95741" y="1961455"/>
            <a:ext cx="3380284" cy="1676400"/>
          </a:xfrm>
          <a:prstGeom prst="roundRect">
            <a:avLst>
              <a:gd name="adj" fmla="val 6475"/>
            </a:avLst>
          </a:prstGeom>
          <a:solidFill>
            <a:srgbClr val="FBFAF6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2916" y="2218630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ko-KR" altLang="en-US" sz="2200" b="1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일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52916" y="2655491"/>
            <a:ext cx="295191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직접 센 정답과 비교한 오차 측정</a:t>
            </a: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마감까지 새 기능은 추가하지 않습니다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" y="5351165"/>
            <a:ext cx="10566400" cy="0"/>
          </a:xfrm>
          <a:prstGeom prst="line">
            <a:avLst/>
          </a:prstGeom>
          <a:noFill/>
          <a:ln w="6350">
            <a:solidFill>
              <a:srgbClr val="DEDC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55575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자세한 내용은 보고서 </a:t>
            </a: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절과 프로젝트 작업일지에 있습니다 </a:t>
            </a: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(trafficlens.maxfinup.com </a:t>
            </a:r>
            <a:r>
              <a:rPr lang="ko-KR" altLang="en-US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자료실</a:t>
            </a:r>
            <a:r>
              <a:rPr lang="en-US" altLang="ko-KR" sz="16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2800" y="6337300"/>
            <a:ext cx="203200" cy="3810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24" name="Text 22"/>
          <p:cNvSpPr/>
          <p:nvPr/>
        </p:nvSpPr>
        <p:spPr>
          <a:xfrm>
            <a:off x="11176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TrafficLens · 팀 로드비전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BE5BA0EE-028B-4601-9CF6-3EB9049234EE}"/>
              </a:ext>
            </a:extLst>
          </p:cNvPr>
          <p:cNvSpPr/>
          <p:nvPr/>
        </p:nvSpPr>
        <p:spPr>
          <a:xfrm>
            <a:off x="812800" y="3987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b="1" kern="0" spc="100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흐름</a:t>
            </a:r>
            <a:endParaRPr lang="en-US" sz="120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2FD466B8-A0DB-42D6-ACD8-549C066219A7}"/>
              </a:ext>
            </a:extLst>
          </p:cNvPr>
          <p:cNvSpPr/>
          <p:nvPr/>
        </p:nvSpPr>
        <p:spPr>
          <a:xfrm>
            <a:off x="812800" y="4292600"/>
            <a:ext cx="195072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EE597EA6-7248-410F-8818-4D5E48AD177C}"/>
              </a:ext>
            </a:extLst>
          </p:cNvPr>
          <p:cNvSpPr/>
          <p:nvPr/>
        </p:nvSpPr>
        <p:spPr>
          <a:xfrm>
            <a:off x="812800" y="4394200"/>
            <a:ext cx="19507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altLang="ko-KR" sz="2000" b="1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10.12</a:t>
            </a:r>
            <a:endParaRPr lang="en-US" sz="2000" dirty="0">
              <a:solidFill>
                <a:srgbClr val="2558B8"/>
              </a:solidFill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E5CF8EB4-E244-46A5-BEBA-5097A223DA6D}"/>
              </a:ext>
            </a:extLst>
          </p:cNvPr>
          <p:cNvSpPr/>
          <p:nvPr/>
        </p:nvSpPr>
        <p:spPr>
          <a:xfrm>
            <a:off x="812800" y="4737100"/>
            <a:ext cx="19507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</a:t>
            </a:r>
            <a:r>
              <a:rPr lang="en-US" altLang="ko-KR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버전 코드</a:t>
            </a:r>
            <a:endParaRPr lang="en-US" sz="1400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53C68E7F-C984-4A93-BFF8-8FA73669B798}"/>
              </a:ext>
            </a:extLst>
          </p:cNvPr>
          <p:cNvSpPr/>
          <p:nvPr/>
        </p:nvSpPr>
        <p:spPr>
          <a:xfrm>
            <a:off x="2966720" y="4292600"/>
            <a:ext cx="195072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008C0DB1-F762-4974-89CF-4C98CD2E7BA9}"/>
              </a:ext>
            </a:extLst>
          </p:cNvPr>
          <p:cNvSpPr/>
          <p:nvPr/>
        </p:nvSpPr>
        <p:spPr>
          <a:xfrm>
            <a:off x="2966720" y="4394200"/>
            <a:ext cx="19507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altLang="ko-KR" sz="2000" b="1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10.13</a:t>
            </a:r>
            <a:endParaRPr lang="en-US" sz="2000" dirty="0">
              <a:solidFill>
                <a:srgbClr val="2558B8"/>
              </a:solidFill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8721C4C2-17F0-4300-9C6C-CE16A1FD4F76}"/>
              </a:ext>
            </a:extLst>
          </p:cNvPr>
          <p:cNvSpPr/>
          <p:nvPr/>
        </p:nvSpPr>
        <p:spPr>
          <a:xfrm>
            <a:off x="2966720" y="4737100"/>
            <a:ext cx="19507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altLang="ko-KR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 발표</a:t>
            </a:r>
            <a:r>
              <a:rPr lang="en-US" altLang="ko-KR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박스 제거 </a:t>
            </a:r>
            <a:r>
              <a:rPr lang="en-US" altLang="ko-KR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버스 </a:t>
            </a:r>
            <a:r>
              <a:rPr lang="en-US" altLang="ko-KR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→ 29)</a:t>
            </a:r>
            <a:endParaRPr lang="en-US" sz="140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6FE52B7A-6F54-4F50-8B6C-70CE32CF996D}"/>
              </a:ext>
            </a:extLst>
          </p:cNvPr>
          <p:cNvSpPr/>
          <p:nvPr/>
        </p:nvSpPr>
        <p:spPr>
          <a:xfrm>
            <a:off x="5120640" y="4292600"/>
            <a:ext cx="195072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5160B2DE-D488-4762-B7A1-34C1DE8C7261}"/>
              </a:ext>
            </a:extLst>
          </p:cNvPr>
          <p:cNvSpPr/>
          <p:nvPr/>
        </p:nvSpPr>
        <p:spPr>
          <a:xfrm>
            <a:off x="5120640" y="4394200"/>
            <a:ext cx="19507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altLang="ko-KR" sz="2000" b="1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10.15</a:t>
            </a:r>
            <a:endParaRPr lang="en-US" sz="2000" dirty="0">
              <a:solidFill>
                <a:srgbClr val="2558B8"/>
              </a:solidFill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D5C3B0A8-ED1C-4BC6-9EBF-119E19A12CCA}"/>
              </a:ext>
            </a:extLst>
          </p:cNvPr>
          <p:cNvSpPr/>
          <p:nvPr/>
        </p:nvSpPr>
        <p:spPr>
          <a:xfrm>
            <a:off x="5120640" y="4737100"/>
            <a:ext cx="19507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</a:t>
            </a:r>
            <a:r>
              <a:rPr lang="en-US" altLang="ko-KR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해상도 측정 </a:t>
            </a:r>
            <a:r>
              <a:rPr lang="en-US" altLang="ko-KR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보행자 </a:t>
            </a:r>
            <a:r>
              <a:rPr lang="en-US" altLang="ko-KR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→ 190)</a:t>
            </a:r>
            <a:endParaRPr lang="en-US" sz="1400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F0FFCF70-6973-4D31-878D-D429E85E44A4}"/>
              </a:ext>
            </a:extLst>
          </p:cNvPr>
          <p:cNvSpPr/>
          <p:nvPr/>
        </p:nvSpPr>
        <p:spPr>
          <a:xfrm>
            <a:off x="7274560" y="4292600"/>
            <a:ext cx="195072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51B94B1D-E242-4B91-B7EE-A55106FD5D1D}"/>
              </a:ext>
            </a:extLst>
          </p:cNvPr>
          <p:cNvSpPr/>
          <p:nvPr/>
        </p:nvSpPr>
        <p:spPr>
          <a:xfrm>
            <a:off x="7274560" y="4394200"/>
            <a:ext cx="19507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altLang="ko-KR" sz="2000" b="1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10.16</a:t>
            </a:r>
            <a:endParaRPr lang="en-US" sz="2000" dirty="0">
              <a:solidFill>
                <a:srgbClr val="2558B8"/>
              </a:solidFill>
            </a:endParaRPr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798464CB-A01A-4A5A-9746-E8E74D7DA3B0}"/>
              </a:ext>
            </a:extLst>
          </p:cNvPr>
          <p:cNvSpPr/>
          <p:nvPr/>
        </p:nvSpPr>
        <p:spPr>
          <a:xfrm>
            <a:off x="7274560" y="4737100"/>
            <a:ext cx="19507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준비</a:t>
            </a:r>
            <a:endParaRPr lang="en-US" sz="1400" dirty="0"/>
          </a:p>
        </p:txBody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A304F83A-86FD-45A5-922F-AB8332F70D1F}"/>
              </a:ext>
            </a:extLst>
          </p:cNvPr>
          <p:cNvSpPr/>
          <p:nvPr/>
        </p:nvSpPr>
        <p:spPr>
          <a:xfrm>
            <a:off x="9428480" y="4292600"/>
            <a:ext cx="1950720" cy="3810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/>
        </p:spPr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4B9AC0A5-2BBF-4E77-A9D7-8FD2F5F52FF1}"/>
              </a:ext>
            </a:extLst>
          </p:cNvPr>
          <p:cNvSpPr/>
          <p:nvPr/>
        </p:nvSpPr>
        <p:spPr>
          <a:xfrm>
            <a:off x="9428480" y="4394200"/>
            <a:ext cx="19507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altLang="ko-KR" sz="2000" b="1">
                <a:solidFill>
                  <a:srgbClr val="255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10.26</a:t>
            </a:r>
            <a:endParaRPr lang="en-US" sz="2000" dirty="0">
              <a:solidFill>
                <a:srgbClr val="2558B8"/>
              </a:solidFill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F1131CAC-4D29-4C7D-8143-451F817530F2}"/>
              </a:ext>
            </a:extLst>
          </p:cNvPr>
          <p:cNvSpPr/>
          <p:nvPr/>
        </p:nvSpPr>
        <p:spPr>
          <a:xfrm>
            <a:off x="9428480" y="4737100"/>
            <a:ext cx="19507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작업일지 </a:t>
            </a:r>
            <a:r>
              <a:rPr lang="en-US" altLang="ko-KR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</a:t>
            </a:r>
            <a:r>
              <a:rPr lang="en-US" altLang="ko-KR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ko-KR" altLang="en-US" sz="140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자료실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36505653"/>
      </p:ext>
    </p:extLst>
  </p:cSld>
  <p:clrMapOvr>
    <a:masterClrMapping/>
  </p:clrMapOvr>
</p:sld>
</file>

<file path=ppt/theme/theme1.xml><?xml version="1.0" encoding="utf-8"?>
<a:theme xmlns:a="http://schemas.openxmlformats.org/drawingml/2006/main" name="TrafficLens 발표">
  <a:themeElements>
    <a:clrScheme name="TrafficLens 발표">
      <a:dk1>
        <a:srgbClr val="15191F"/>
      </a:dk1>
      <a:lt1>
        <a:srgbClr val="F4F3EE"/>
      </a:lt1>
      <a:dk2>
        <a:srgbClr val="4D5053"/>
      </a:dk2>
      <a:lt2>
        <a:srgbClr val="DEDDD9"/>
      </a:lt2>
      <a:accent1>
        <a:srgbClr val="2558B8"/>
      </a:accent1>
      <a:accent2>
        <a:srgbClr val="F2C230"/>
      </a:accent2>
      <a:accent3>
        <a:srgbClr val="B3412A"/>
      </a:accent3>
      <a:accent4>
        <a:srgbClr val="6B7079"/>
      </a:accent4>
      <a:accent5>
        <a:srgbClr val="9AA1AC"/>
      </a:accent5>
      <a:accent6>
        <a:srgbClr val="4A5160"/>
      </a:accent6>
      <a:hlink>
        <a:srgbClr val="0563C1"/>
      </a:hlink>
      <a:folHlink>
        <a:srgbClr val="954F72"/>
      </a:folHlink>
    </a:clrScheme>
    <a:fontScheme name="TrafficLens 발표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1532</Words>
  <Application>Microsoft Office PowerPoint</Application>
  <PresentationFormat>와이드스크린</PresentationFormat>
  <Paragraphs>428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TrafficLens 발표</vt:lpstr>
      <vt:lpstr>TrafficLens</vt:lpstr>
      <vt:lpstr>발표 순서</vt:lpstr>
      <vt:lpstr>교통량 조사는 아직 사람이 셉니다</vt:lpstr>
      <vt:lpstr>도로 영상을 넣으면 숫자가 나옵니다</vt:lpstr>
      <vt:lpstr>다섯 단계로 처리합니다</vt:lpstr>
      <vt:lpstr>화면 왼쪽 위에 숫자를 보여줍니다</vt:lpstr>
      <vt:lpstr>사용한 기술</vt:lpstr>
      <vt:lpstr>YOLOv8s를 1280 해상도로 씁니다</vt:lpstr>
      <vt:lpstr>물체마다 번호를 붙여 따라갑니다</vt:lpstr>
      <vt:lpstr>기준선을 가로지르면 한 번 셉니다</vt:lpstr>
      <vt:lpstr>기본 버전에서 세 가지 문제가 보였습니다</vt:lpstr>
      <vt:lpstr>정지 물체 필터로 신호등을 걸러냅니다</vt:lpstr>
      <vt:lpstr>트럭·버스 혼동을 두 단계로 막습니다</vt:lpstr>
      <vt:lpstr>짧게 보인 ID는 누적 수에서 뺍니다</vt:lpstr>
      <vt:lpstr>같은 영상, 같은 구간으로 비교했습니다</vt:lpstr>
      <vt:lpstr>직접 센 정답과 비교했습니다</vt:lpstr>
      <vt:lpstr>결과 영상으로 직접 보겠습니다</vt:lpstr>
      <vt:lpstr>남은 과제도 분명합니다</vt:lpstr>
      <vt:lpstr>이런 곳에 쓸 수 있습니다</vt:lpstr>
      <vt:lpstr>감사합니다</vt:lpstr>
      <vt:lpstr>프로젝트 진행 정리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TrafficLens 발표</dc:title>
  <dc:subject/>
  <dc:creator/>
  <cp:lastModifiedBy>mbc</cp:lastModifiedBy>
  <cp:revision>11</cp:revision>
  <dcterms:created xsi:type="dcterms:W3CDTF">2026-10-13T06:57:10Z</dcterms:created>
  <dcterms:modified xsi:type="dcterms:W3CDTF">2026-10-29T03:24:55Z</dcterms:modified>
</cp:coreProperties>
</file>